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e470d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e47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9e470d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9e47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c6f9e470d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c6f9e470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c6f9e470d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c6f9e470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c6f9e470d_0_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c6f9e470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c6f9e470d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c6f9e470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c6f9e470d_0_8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c6f9e470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478a618cc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478a618cc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478a618cc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478a618cc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478a618cc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478a618cc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c6f9e470d_0_1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c6f9e470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478a618cc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478a618cc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Forecasting Credit Card Spending for Personalized Customer Relationship Management</a:t>
            </a:r>
            <a:endParaRPr sz="3000"/>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2900">
                <a:solidFill>
                  <a:srgbClr val="D1D5DB"/>
                </a:solidFill>
              </a:rPr>
              <a:t>A Predictive Analysis</a:t>
            </a:r>
            <a:endParaRPr sz="2900">
              <a:solidFill>
                <a:srgbClr val="D1D5DB"/>
              </a:solidFill>
            </a:endParaRPr>
          </a:p>
          <a:p>
            <a:pPr indent="0" lvl="0" marL="0" rtl="0" algn="r">
              <a:spcBef>
                <a:spcPts val="0"/>
              </a:spcBef>
              <a:spcAft>
                <a:spcPts val="0"/>
              </a:spcAft>
              <a:buNone/>
            </a:pPr>
            <a:r>
              <a:rPr lang="en" sz="2000">
                <a:solidFill>
                  <a:schemeClr val="accent3"/>
                </a:solidFill>
              </a:rPr>
              <a:t>Jessenth Ebenezer (15154)</a:t>
            </a:r>
            <a:endParaRPr sz="2000">
              <a:solidFill>
                <a:schemeClr val="accent3"/>
              </a:solidFill>
            </a:endParaRPr>
          </a:p>
          <a:p>
            <a:pPr indent="0" lvl="0" marL="0" rtl="0" algn="r">
              <a:spcBef>
                <a:spcPts val="0"/>
              </a:spcBef>
              <a:spcAft>
                <a:spcPts val="0"/>
              </a:spcAft>
              <a:buNone/>
            </a:pPr>
            <a:r>
              <a:t/>
            </a:r>
            <a:endParaRPr sz="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problem</a:t>
            </a:r>
            <a:endParaRPr/>
          </a:p>
        </p:txBody>
      </p:sp>
      <p:grpSp>
        <p:nvGrpSpPr>
          <p:cNvPr id="92" name="Google Shape;92;p14"/>
          <p:cNvGrpSpPr/>
          <p:nvPr/>
        </p:nvGrpSpPr>
        <p:grpSpPr>
          <a:xfrm>
            <a:off x="431925" y="1304875"/>
            <a:ext cx="2628925" cy="3416400"/>
            <a:chOff x="431925" y="1304875"/>
            <a:chExt cx="2628925" cy="3416400"/>
          </a:xfrm>
        </p:grpSpPr>
        <p:sp>
          <p:nvSpPr>
            <p:cNvPr id="93" name="Google Shape;93;p14"/>
            <p:cNvSpPr txBox="1"/>
            <p:nvPr/>
          </p:nvSpPr>
          <p:spPr>
            <a:xfrm>
              <a:off x="431925"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4319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14"/>
          <p:cNvSpPr txBox="1"/>
          <p:nvPr>
            <p:ph idx="4294967295" type="body"/>
          </p:nvPr>
        </p:nvSpPr>
        <p:spPr>
          <a:xfrm>
            <a:off x="506425"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Context</a:t>
            </a:r>
            <a:endParaRPr>
              <a:solidFill>
                <a:schemeClr val="lt1"/>
              </a:solidFill>
            </a:endParaRPr>
          </a:p>
        </p:txBody>
      </p:sp>
      <p:sp>
        <p:nvSpPr>
          <p:cNvPr id="96" name="Google Shape;96;p14"/>
          <p:cNvSpPr txBox="1"/>
          <p:nvPr>
            <p:ph idx="4294967295" type="body"/>
          </p:nvPr>
        </p:nvSpPr>
        <p:spPr>
          <a:xfrm>
            <a:off x="508325" y="1850300"/>
            <a:ext cx="2478600" cy="2794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Accurate predictions of consumer spending patterns are vital for banks, enabling them to tailor their services and marketing strategies effectively.</a:t>
            </a:r>
            <a:endParaRPr sz="1600"/>
          </a:p>
        </p:txBody>
      </p:sp>
      <p:grpSp>
        <p:nvGrpSpPr>
          <p:cNvPr id="97" name="Google Shape;97;p14"/>
          <p:cNvGrpSpPr/>
          <p:nvPr/>
        </p:nvGrpSpPr>
        <p:grpSpPr>
          <a:xfrm>
            <a:off x="3320450" y="1304875"/>
            <a:ext cx="2632500" cy="3416400"/>
            <a:chOff x="3320450" y="1304875"/>
            <a:chExt cx="2632500" cy="3416400"/>
          </a:xfrm>
        </p:grpSpPr>
        <p:sp>
          <p:nvSpPr>
            <p:cNvPr id="98" name="Google Shape;98;p14"/>
            <p:cNvSpPr txBox="1"/>
            <p:nvPr/>
          </p:nvSpPr>
          <p:spPr>
            <a:xfrm>
              <a:off x="3324050"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33204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 name="Google Shape;100;p14"/>
          <p:cNvSpPr txBox="1"/>
          <p:nvPr>
            <p:ph idx="4294967295" type="body"/>
          </p:nvPr>
        </p:nvSpPr>
        <p:spPr>
          <a:xfrm>
            <a:off x="3389450"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Data</a:t>
            </a:r>
            <a:endParaRPr>
              <a:solidFill>
                <a:schemeClr val="lt1"/>
              </a:solidFill>
            </a:endParaRPr>
          </a:p>
        </p:txBody>
      </p:sp>
      <p:sp>
        <p:nvSpPr>
          <p:cNvPr id="101" name="Google Shape;101;p14"/>
          <p:cNvSpPr txBox="1"/>
          <p:nvPr>
            <p:ph idx="4294967295" type="body"/>
          </p:nvPr>
        </p:nvSpPr>
        <p:spPr>
          <a:xfrm>
            <a:off x="3396775" y="1850300"/>
            <a:ext cx="2478600" cy="2794800"/>
          </a:xfrm>
          <a:prstGeom prst="rect">
            <a:avLst/>
          </a:prstGeom>
        </p:spPr>
        <p:txBody>
          <a:bodyPr anchorCtr="0" anchor="t" bIns="91425" lIns="91425" spcFirstLastPara="1" rIns="91425" wrap="square" tIns="91425">
            <a:noAutofit/>
          </a:bodyPr>
          <a:lstStyle/>
          <a:p>
            <a:pPr indent="0" lvl="0" marL="457200" rtl="0" algn="l">
              <a:spcBef>
                <a:spcPts val="0"/>
              </a:spcBef>
              <a:spcAft>
                <a:spcPts val="1600"/>
              </a:spcAft>
              <a:buNone/>
            </a:pPr>
            <a:r>
              <a:rPr lang="en" sz="1600"/>
              <a:t>To achieve this, we will explore customer demographics, financial information, and past transaction history to build a predictive model. </a:t>
            </a:r>
            <a:endParaRPr sz="1600"/>
          </a:p>
        </p:txBody>
      </p:sp>
      <p:grpSp>
        <p:nvGrpSpPr>
          <p:cNvPr id="102" name="Google Shape;102;p14"/>
          <p:cNvGrpSpPr/>
          <p:nvPr/>
        </p:nvGrpSpPr>
        <p:grpSpPr>
          <a:xfrm>
            <a:off x="6212550" y="1304875"/>
            <a:ext cx="2632500" cy="3416400"/>
            <a:chOff x="6212550" y="1304875"/>
            <a:chExt cx="2632500" cy="3416400"/>
          </a:xfrm>
        </p:grpSpPr>
        <p:sp>
          <p:nvSpPr>
            <p:cNvPr id="103" name="Google Shape;103;p14"/>
            <p:cNvSpPr/>
            <p:nvPr/>
          </p:nvSpPr>
          <p:spPr>
            <a:xfrm>
              <a:off x="621540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txBox="1"/>
            <p:nvPr/>
          </p:nvSpPr>
          <p:spPr>
            <a:xfrm>
              <a:off x="6212550" y="1304875"/>
              <a:ext cx="26325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4"/>
          <p:cNvSpPr txBox="1"/>
          <p:nvPr>
            <p:ph idx="4294967295" type="body"/>
          </p:nvPr>
        </p:nvSpPr>
        <p:spPr>
          <a:xfrm>
            <a:off x="6272475"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Problem statement</a:t>
            </a:r>
            <a:endParaRPr>
              <a:solidFill>
                <a:schemeClr val="lt1"/>
              </a:solidFill>
            </a:endParaRPr>
          </a:p>
        </p:txBody>
      </p:sp>
      <p:sp>
        <p:nvSpPr>
          <p:cNvPr id="106" name="Google Shape;106;p14"/>
          <p:cNvSpPr txBox="1"/>
          <p:nvPr>
            <p:ph idx="4294967295" type="body"/>
          </p:nvPr>
        </p:nvSpPr>
        <p:spPr>
          <a:xfrm>
            <a:off x="6286400" y="1850300"/>
            <a:ext cx="2478600" cy="2794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Build a suitable Machine Learning model that predicts the average credit card spend of a customer over the next 3 months based on parameters listed in the dataset.</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Challenges deep-dive</a:t>
            </a:r>
            <a:endParaRPr/>
          </a:p>
        </p:txBody>
      </p:sp>
      <p:sp>
        <p:nvSpPr>
          <p:cNvPr id="112" name="Google Shape;112;p15"/>
          <p:cNvSpPr/>
          <p:nvPr/>
        </p:nvSpPr>
        <p:spPr>
          <a:xfrm>
            <a:off x="432350" y="1304875"/>
            <a:ext cx="2469300" cy="607800"/>
          </a:xfrm>
          <a:prstGeom prst="homePlate">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13" name="Google Shape;113;p15"/>
          <p:cNvSpPr txBox="1"/>
          <p:nvPr>
            <p:ph idx="4294967295" type="body"/>
          </p:nvPr>
        </p:nvSpPr>
        <p:spPr>
          <a:xfrm>
            <a:off x="432350" y="1451576"/>
            <a:ext cx="2257200" cy="314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Data Quality</a:t>
            </a:r>
            <a:endParaRPr>
              <a:solidFill>
                <a:schemeClr val="lt1"/>
              </a:solidFill>
            </a:endParaRPr>
          </a:p>
        </p:txBody>
      </p:sp>
      <p:sp>
        <p:nvSpPr>
          <p:cNvPr id="114" name="Google Shape;114;p15"/>
          <p:cNvSpPr txBox="1"/>
          <p:nvPr>
            <p:ph idx="4294967295" type="body"/>
          </p:nvPr>
        </p:nvSpPr>
        <p:spPr>
          <a:xfrm>
            <a:off x="432350" y="2070575"/>
            <a:ext cx="2471700" cy="265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Missing Values and Irrelevant Features</a:t>
            </a:r>
            <a:endParaRPr b="1" sz="1600"/>
          </a:p>
          <a:p>
            <a:pPr indent="0" lvl="0" marL="0" rtl="0" algn="l">
              <a:spcBef>
                <a:spcPts val="800"/>
              </a:spcBef>
              <a:spcAft>
                <a:spcPts val="800"/>
              </a:spcAft>
              <a:buNone/>
            </a:pPr>
            <a:r>
              <a:rPr lang="en" sz="1300"/>
              <a:t>As with any data of a significant size, there is a lot of information that may prove to be unwanted for the task at hand, implementing the right strategies to impute these values and taking decisions based on domain expertise is vital</a:t>
            </a:r>
            <a:endParaRPr sz="1300"/>
          </a:p>
        </p:txBody>
      </p:sp>
      <p:sp>
        <p:nvSpPr>
          <p:cNvPr id="115" name="Google Shape;115;p15"/>
          <p:cNvSpPr/>
          <p:nvPr/>
        </p:nvSpPr>
        <p:spPr>
          <a:xfrm>
            <a:off x="3044777" y="130487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16" name="Google Shape;116;p15"/>
          <p:cNvSpPr txBox="1"/>
          <p:nvPr>
            <p:ph idx="4294967295" type="body"/>
          </p:nvPr>
        </p:nvSpPr>
        <p:spPr>
          <a:xfrm>
            <a:off x="3336150" y="1451576"/>
            <a:ext cx="2257200" cy="314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Feature Complexity</a:t>
            </a:r>
            <a:endParaRPr>
              <a:solidFill>
                <a:schemeClr val="lt1"/>
              </a:solidFill>
            </a:endParaRPr>
          </a:p>
        </p:txBody>
      </p:sp>
      <p:sp>
        <p:nvSpPr>
          <p:cNvPr id="117" name="Google Shape;117;p15"/>
          <p:cNvSpPr txBox="1"/>
          <p:nvPr>
            <p:ph idx="4294967295" type="body"/>
          </p:nvPr>
        </p:nvSpPr>
        <p:spPr>
          <a:xfrm>
            <a:off x="3336146" y="2070575"/>
            <a:ext cx="2471700" cy="265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Selecting and Engineering the right parameters</a:t>
            </a:r>
            <a:endParaRPr b="1" sz="1600"/>
          </a:p>
          <a:p>
            <a:pPr indent="0" lvl="0" marL="0" rtl="0" algn="l">
              <a:spcBef>
                <a:spcPts val="800"/>
              </a:spcBef>
              <a:spcAft>
                <a:spcPts val="800"/>
              </a:spcAft>
              <a:buNone/>
            </a:pPr>
            <a:r>
              <a:rPr lang="en" sz="1200"/>
              <a:t>The complexity of financial data requires careful feature engineering to capture meaningful information. Deciding how to approach certain values require studying correlation and pattern recognition to ensure nothing of importance is lost and maintain accuracy throughout.</a:t>
            </a:r>
            <a:endParaRPr sz="1200"/>
          </a:p>
        </p:txBody>
      </p:sp>
      <p:sp>
        <p:nvSpPr>
          <p:cNvPr id="118" name="Google Shape;118;p15"/>
          <p:cNvSpPr/>
          <p:nvPr/>
        </p:nvSpPr>
        <p:spPr>
          <a:xfrm>
            <a:off x="5948502" y="130487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19" name="Google Shape;119;p15"/>
          <p:cNvSpPr txBox="1"/>
          <p:nvPr>
            <p:ph idx="4294967295" type="body"/>
          </p:nvPr>
        </p:nvSpPr>
        <p:spPr>
          <a:xfrm>
            <a:off x="6254233" y="1451576"/>
            <a:ext cx="2257200" cy="314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Model Selection</a:t>
            </a:r>
            <a:endParaRPr>
              <a:solidFill>
                <a:schemeClr val="lt1"/>
              </a:solidFill>
            </a:endParaRPr>
          </a:p>
        </p:txBody>
      </p:sp>
      <p:sp>
        <p:nvSpPr>
          <p:cNvPr id="120" name="Google Shape;120;p15"/>
          <p:cNvSpPr txBox="1"/>
          <p:nvPr>
            <p:ph idx="4294967295" type="body"/>
          </p:nvPr>
        </p:nvSpPr>
        <p:spPr>
          <a:xfrm>
            <a:off x="6254226" y="2070575"/>
            <a:ext cx="2471700" cy="265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Going beyond thresholds</a:t>
            </a:r>
            <a:endParaRPr b="1" sz="1600"/>
          </a:p>
          <a:p>
            <a:pPr indent="0" lvl="0" marL="0" rtl="0" algn="l">
              <a:spcBef>
                <a:spcPts val="800"/>
              </a:spcBef>
              <a:spcAft>
                <a:spcPts val="800"/>
              </a:spcAft>
              <a:buNone/>
            </a:pPr>
            <a:r>
              <a:rPr lang="en" sz="1200"/>
              <a:t>Going through a plethora of regression models and evaluating each model’s performance and tuning them to make sure the expected performance criteria is met successfully, with various methods of ensemble learning, hyperparameter tuning, etc.</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6"/>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Solution</a:t>
            </a:r>
            <a:endParaRPr/>
          </a:p>
        </p:txBody>
      </p:sp>
      <p:sp>
        <p:nvSpPr>
          <p:cNvPr id="126" name="Google Shape;126;p16"/>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robust model that follows the ensemble approach to provide reliable results</a:t>
            </a:r>
            <a:endParaRPr/>
          </a:p>
        </p:txBody>
      </p:sp>
      <p:sp>
        <p:nvSpPr>
          <p:cNvPr id="127" name="Google Shape;127;p1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Combining predictions from multiple base models such as Ridge, Lasso, Random Forest, Linear Regression, XGBoost, etc.</a:t>
            </a:r>
            <a:endParaRPr sz="1400"/>
          </a:p>
          <a:p>
            <a:pPr indent="-317500" lvl="0" marL="457200" rtl="0" algn="l">
              <a:spcBef>
                <a:spcPts val="0"/>
              </a:spcBef>
              <a:spcAft>
                <a:spcPts val="0"/>
              </a:spcAft>
              <a:buSzPts val="1400"/>
              <a:buChar char="●"/>
            </a:pPr>
            <a:r>
              <a:rPr lang="en" sz="1400"/>
              <a:t>Scores well below threshold (~111 on validation set, 116-118 on evaluation dataset)</a:t>
            </a:r>
            <a:endParaRPr sz="1400"/>
          </a:p>
          <a:p>
            <a:pPr indent="-317500" lvl="0" marL="457200" rtl="0" algn="l">
              <a:spcBef>
                <a:spcPts val="0"/>
              </a:spcBef>
              <a:spcAft>
                <a:spcPts val="0"/>
              </a:spcAft>
              <a:buSzPts val="1400"/>
              <a:buChar char="●"/>
            </a:pPr>
            <a:r>
              <a:rPr lang="en" sz="1400"/>
              <a:t>Can be easily deployed as a web application using gradio/streamlit </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7"/>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Implementation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descr="Background pointer shape in timeline graphic" id="137" name="Google Shape;137;p18"/>
          <p:cNvSpPr/>
          <p:nvPr/>
        </p:nvSpPr>
        <p:spPr>
          <a:xfrm>
            <a:off x="340934" y="2199000"/>
            <a:ext cx="1872300" cy="745500"/>
          </a:xfrm>
          <a:prstGeom prst="homePlate">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38" name="Google Shape;138;p18"/>
          <p:cNvSpPr txBox="1"/>
          <p:nvPr>
            <p:ph idx="4294967295" type="body"/>
          </p:nvPr>
        </p:nvSpPr>
        <p:spPr>
          <a:xfrm>
            <a:off x="340923" y="2336550"/>
            <a:ext cx="14556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600">
                <a:solidFill>
                  <a:schemeClr val="lt1"/>
                </a:solidFill>
              </a:rPr>
              <a:t>Data Exploration</a:t>
            </a:r>
            <a:endParaRPr sz="1600">
              <a:solidFill>
                <a:schemeClr val="lt1"/>
              </a:solidFill>
            </a:endParaRPr>
          </a:p>
        </p:txBody>
      </p:sp>
      <p:grpSp>
        <p:nvGrpSpPr>
          <p:cNvPr id="139" name="Google Shape;139;p18"/>
          <p:cNvGrpSpPr/>
          <p:nvPr/>
        </p:nvGrpSpPr>
        <p:grpSpPr>
          <a:xfrm>
            <a:off x="969270" y="1610215"/>
            <a:ext cx="198900" cy="593656"/>
            <a:chOff x="777447" y="1610215"/>
            <a:chExt cx="198900" cy="593656"/>
          </a:xfrm>
        </p:grpSpPr>
        <p:cxnSp>
          <p:nvCxnSpPr>
            <p:cNvPr id="140" name="Google Shape;140;p18"/>
            <p:cNvCxnSpPr/>
            <p:nvPr/>
          </p:nvCxnSpPr>
          <p:spPr>
            <a:xfrm>
              <a:off x="876909" y="1649171"/>
              <a:ext cx="0" cy="554700"/>
            </a:xfrm>
            <a:prstGeom prst="straightConnector1">
              <a:avLst/>
            </a:prstGeom>
            <a:noFill/>
            <a:ln cap="flat" cmpd="sng" w="9525">
              <a:solidFill>
                <a:schemeClr val="dk2"/>
              </a:solidFill>
              <a:prstDash val="solid"/>
              <a:round/>
              <a:headEnd len="sm" w="sm" type="none"/>
              <a:tailEnd len="sm" w="sm" type="none"/>
            </a:ln>
          </p:spPr>
        </p:cxnSp>
        <p:sp>
          <p:nvSpPr>
            <p:cNvPr id="141" name="Google Shape;141;p18"/>
            <p:cNvSpPr/>
            <p:nvPr/>
          </p:nvSpPr>
          <p:spPr>
            <a:xfrm>
              <a:off x="777447"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 name="Google Shape;142;p18"/>
          <p:cNvSpPr txBox="1"/>
          <p:nvPr>
            <p:ph idx="4294967295" type="body"/>
          </p:nvPr>
        </p:nvSpPr>
        <p:spPr>
          <a:xfrm>
            <a:off x="318375" y="385667"/>
            <a:ext cx="22428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U</a:t>
            </a:r>
            <a:r>
              <a:rPr lang="en" sz="1100"/>
              <a:t>nderstanding the features and descriptions from provided dictionary, dataset and planning the </a:t>
            </a:r>
            <a:r>
              <a:rPr lang="en" sz="1100"/>
              <a:t>forthcoming</a:t>
            </a:r>
            <a:r>
              <a:rPr lang="en" sz="1100"/>
              <a:t> stages of analysis and prediction</a:t>
            </a:r>
            <a:endParaRPr sz="1100"/>
          </a:p>
        </p:txBody>
      </p:sp>
      <p:sp>
        <p:nvSpPr>
          <p:cNvPr descr="Background pointer shape in timeline graphic" id="143" name="Google Shape;143;p18"/>
          <p:cNvSpPr/>
          <p:nvPr/>
        </p:nvSpPr>
        <p:spPr>
          <a:xfrm>
            <a:off x="1817054"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44" name="Google Shape;144;p18"/>
          <p:cNvSpPr txBox="1"/>
          <p:nvPr>
            <p:ph idx="4294967295" type="body"/>
          </p:nvPr>
        </p:nvSpPr>
        <p:spPr>
          <a:xfrm>
            <a:off x="2126317" y="2336550"/>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600">
                <a:solidFill>
                  <a:schemeClr val="lt1"/>
                </a:solidFill>
              </a:rPr>
              <a:t>EDA</a:t>
            </a:r>
            <a:endParaRPr sz="1600">
              <a:solidFill>
                <a:schemeClr val="lt1"/>
              </a:solidFill>
            </a:endParaRPr>
          </a:p>
        </p:txBody>
      </p:sp>
      <p:grpSp>
        <p:nvGrpSpPr>
          <p:cNvPr id="145" name="Google Shape;145;p18"/>
          <p:cNvGrpSpPr/>
          <p:nvPr/>
        </p:nvGrpSpPr>
        <p:grpSpPr>
          <a:xfrm>
            <a:off x="2684632" y="2938958"/>
            <a:ext cx="198900" cy="593656"/>
            <a:chOff x="2223534" y="2938958"/>
            <a:chExt cx="198900" cy="593656"/>
          </a:xfrm>
        </p:grpSpPr>
        <p:cxnSp>
          <p:nvCxnSpPr>
            <p:cNvPr id="146" name="Google Shape;146;p18"/>
            <p:cNvCxnSpPr/>
            <p:nvPr/>
          </p:nvCxnSpPr>
          <p:spPr>
            <a:xfrm rot="10800000">
              <a:off x="2322997" y="2938958"/>
              <a:ext cx="0" cy="554700"/>
            </a:xfrm>
            <a:prstGeom prst="straightConnector1">
              <a:avLst/>
            </a:prstGeom>
            <a:noFill/>
            <a:ln cap="flat" cmpd="sng" w="9525">
              <a:solidFill>
                <a:schemeClr val="dk2"/>
              </a:solidFill>
              <a:prstDash val="solid"/>
              <a:round/>
              <a:headEnd len="sm" w="sm" type="none"/>
              <a:tailEnd len="sm" w="sm" type="none"/>
            </a:ln>
          </p:spPr>
        </p:cxnSp>
        <p:sp>
          <p:nvSpPr>
            <p:cNvPr id="147" name="Google Shape;147;p18"/>
            <p:cNvSpPr/>
            <p:nvPr/>
          </p:nvSpPr>
          <p:spPr>
            <a:xfrm flipH="1" rot="10800000">
              <a:off x="2223534" y="3333714"/>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18"/>
          <p:cNvSpPr txBox="1"/>
          <p:nvPr>
            <p:ph idx="4294967295" type="body"/>
          </p:nvPr>
        </p:nvSpPr>
        <p:spPr>
          <a:xfrm>
            <a:off x="1244337" y="3757725"/>
            <a:ext cx="22428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V</a:t>
            </a:r>
            <a:r>
              <a:rPr lang="en" sz="1200"/>
              <a:t>isualizing and analyzing the dataset, detecting outliers, handling missing values, preprocessing</a:t>
            </a:r>
            <a:endParaRPr sz="1200"/>
          </a:p>
        </p:txBody>
      </p:sp>
      <p:sp>
        <p:nvSpPr>
          <p:cNvPr descr="Background pointer shape in timeline graphic" id="149" name="Google Shape;149;p18"/>
          <p:cNvSpPr/>
          <p:nvPr/>
        </p:nvSpPr>
        <p:spPr>
          <a:xfrm>
            <a:off x="347197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50" name="Google Shape;150;p18"/>
          <p:cNvSpPr txBox="1"/>
          <p:nvPr>
            <p:ph idx="4294967295" type="body"/>
          </p:nvPr>
        </p:nvSpPr>
        <p:spPr>
          <a:xfrm>
            <a:off x="3767755" y="2336550"/>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chemeClr val="lt1"/>
                </a:solidFill>
              </a:rPr>
              <a:t>Feature Engineering</a:t>
            </a:r>
            <a:endParaRPr sz="1300">
              <a:solidFill>
                <a:schemeClr val="lt1"/>
              </a:solidFill>
            </a:endParaRPr>
          </a:p>
        </p:txBody>
      </p:sp>
      <p:grpSp>
        <p:nvGrpSpPr>
          <p:cNvPr id="151" name="Google Shape;151;p18"/>
          <p:cNvGrpSpPr/>
          <p:nvPr/>
        </p:nvGrpSpPr>
        <p:grpSpPr>
          <a:xfrm>
            <a:off x="4319545" y="1610215"/>
            <a:ext cx="198900" cy="593656"/>
            <a:chOff x="3918084" y="1610215"/>
            <a:chExt cx="198900" cy="593656"/>
          </a:xfrm>
        </p:grpSpPr>
        <p:cxnSp>
          <p:nvCxnSpPr>
            <p:cNvPr id="152" name="Google Shape;152;p18"/>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153" name="Google Shape;153;p18"/>
            <p:cNvSpPr/>
            <p:nvPr/>
          </p:nvSpPr>
          <p:spPr>
            <a:xfrm>
              <a:off x="3918084"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18"/>
          <p:cNvSpPr txBox="1"/>
          <p:nvPr>
            <p:ph idx="4294967295" type="body"/>
          </p:nvPr>
        </p:nvSpPr>
        <p:spPr>
          <a:xfrm>
            <a:off x="3304094" y="385667"/>
            <a:ext cx="22428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S</a:t>
            </a:r>
            <a:r>
              <a:rPr lang="en" sz="1200"/>
              <a:t>electing features, combining and aggregating less correlated features, simplifying and cleaning data</a:t>
            </a:r>
            <a:endParaRPr sz="1200"/>
          </a:p>
        </p:txBody>
      </p:sp>
      <p:sp>
        <p:nvSpPr>
          <p:cNvPr descr="Background pointer shape in timeline graphic" id="155" name="Google Shape;155;p18"/>
          <p:cNvSpPr/>
          <p:nvPr/>
        </p:nvSpPr>
        <p:spPr>
          <a:xfrm>
            <a:off x="512689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56" name="Google Shape;156;p18"/>
          <p:cNvSpPr txBox="1"/>
          <p:nvPr>
            <p:ph idx="4294967295" type="body"/>
          </p:nvPr>
        </p:nvSpPr>
        <p:spPr>
          <a:xfrm>
            <a:off x="5416699" y="2336550"/>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600">
                <a:solidFill>
                  <a:schemeClr val="lt1"/>
                </a:solidFill>
              </a:rPr>
              <a:t>Model Training</a:t>
            </a:r>
            <a:endParaRPr sz="1600">
              <a:solidFill>
                <a:schemeClr val="lt1"/>
              </a:solidFill>
            </a:endParaRPr>
          </a:p>
        </p:txBody>
      </p:sp>
      <p:grpSp>
        <p:nvGrpSpPr>
          <p:cNvPr id="157" name="Google Shape;157;p18"/>
          <p:cNvGrpSpPr/>
          <p:nvPr/>
        </p:nvGrpSpPr>
        <p:grpSpPr>
          <a:xfrm>
            <a:off x="5973070" y="2938958"/>
            <a:ext cx="198900" cy="593656"/>
            <a:chOff x="5958946" y="2938958"/>
            <a:chExt cx="198900" cy="593656"/>
          </a:xfrm>
        </p:grpSpPr>
        <p:cxnSp>
          <p:nvCxnSpPr>
            <p:cNvPr id="158" name="Google Shape;158;p18"/>
            <p:cNvCxnSpPr/>
            <p:nvPr/>
          </p:nvCxnSpPr>
          <p:spPr>
            <a:xfrm rot="10800000">
              <a:off x="6058409" y="2938958"/>
              <a:ext cx="0" cy="554700"/>
            </a:xfrm>
            <a:prstGeom prst="straightConnector1">
              <a:avLst/>
            </a:prstGeom>
            <a:noFill/>
            <a:ln cap="flat" cmpd="sng" w="9525">
              <a:solidFill>
                <a:schemeClr val="dk2"/>
              </a:solidFill>
              <a:prstDash val="solid"/>
              <a:round/>
              <a:headEnd len="sm" w="sm" type="none"/>
              <a:tailEnd len="sm" w="sm" type="none"/>
            </a:ln>
          </p:spPr>
        </p:cxnSp>
        <p:sp>
          <p:nvSpPr>
            <p:cNvPr id="159" name="Google Shape;159;p18"/>
            <p:cNvSpPr/>
            <p:nvPr/>
          </p:nvSpPr>
          <p:spPr>
            <a:xfrm flipH="1" rot="10800000">
              <a:off x="5958946" y="3333714"/>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 name="Google Shape;160;p18"/>
          <p:cNvSpPr txBox="1"/>
          <p:nvPr>
            <p:ph idx="4294967295" type="body"/>
          </p:nvPr>
        </p:nvSpPr>
        <p:spPr>
          <a:xfrm>
            <a:off x="5126902" y="3757725"/>
            <a:ext cx="22428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I</a:t>
            </a:r>
            <a:r>
              <a:rPr lang="en" sz="1200"/>
              <a:t>nitializing and training the dataset on various regression models and validating through the entire dataset.</a:t>
            </a:r>
            <a:endParaRPr sz="1200"/>
          </a:p>
        </p:txBody>
      </p:sp>
      <p:sp>
        <p:nvSpPr>
          <p:cNvPr descr="Background pointer shape in timeline graphic" id="161" name="Google Shape;161;p18"/>
          <p:cNvSpPr/>
          <p:nvPr/>
        </p:nvSpPr>
        <p:spPr>
          <a:xfrm>
            <a:off x="678181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62" name="Google Shape;162;p18"/>
          <p:cNvSpPr txBox="1"/>
          <p:nvPr>
            <p:ph idx="4294967295" type="body"/>
          </p:nvPr>
        </p:nvSpPr>
        <p:spPr>
          <a:xfrm>
            <a:off x="7111512" y="2336550"/>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600">
                <a:solidFill>
                  <a:schemeClr val="lt1"/>
                </a:solidFill>
              </a:rPr>
              <a:t>Evaluation</a:t>
            </a:r>
            <a:endParaRPr sz="1600">
              <a:solidFill>
                <a:schemeClr val="lt1"/>
              </a:solidFill>
            </a:endParaRPr>
          </a:p>
        </p:txBody>
      </p:sp>
      <p:grpSp>
        <p:nvGrpSpPr>
          <p:cNvPr id="163" name="Google Shape;163;p18"/>
          <p:cNvGrpSpPr/>
          <p:nvPr/>
        </p:nvGrpSpPr>
        <p:grpSpPr>
          <a:xfrm>
            <a:off x="7669807" y="1610215"/>
            <a:ext cx="198900" cy="593656"/>
            <a:chOff x="3918084" y="1610215"/>
            <a:chExt cx="198900" cy="593656"/>
          </a:xfrm>
        </p:grpSpPr>
        <p:cxnSp>
          <p:nvCxnSpPr>
            <p:cNvPr id="164" name="Google Shape;164;p18"/>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165" name="Google Shape;165;p18"/>
            <p:cNvSpPr/>
            <p:nvPr/>
          </p:nvSpPr>
          <p:spPr>
            <a:xfrm>
              <a:off x="3918084"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 name="Google Shape;166;p18"/>
          <p:cNvSpPr txBox="1"/>
          <p:nvPr>
            <p:ph idx="4294967295" type="body"/>
          </p:nvPr>
        </p:nvSpPr>
        <p:spPr>
          <a:xfrm>
            <a:off x="6685979" y="385667"/>
            <a:ext cx="22428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C</a:t>
            </a:r>
            <a:r>
              <a:rPr lang="en" sz="1200"/>
              <a:t>omparing model efficiency and stacking to produce the ultimate meta model for prediction</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Features</a:t>
            </a:r>
            <a:endParaRPr/>
          </a:p>
        </p:txBody>
      </p:sp>
      <p:sp>
        <p:nvSpPr>
          <p:cNvPr id="172" name="Google Shape;172;p19"/>
          <p:cNvSpPr/>
          <p:nvPr/>
        </p:nvSpPr>
        <p:spPr>
          <a:xfrm>
            <a:off x="4147063" y="1049105"/>
            <a:ext cx="1449300" cy="6975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a:off x="4147075" y="1049112"/>
            <a:ext cx="1449300" cy="30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txBox="1"/>
          <p:nvPr>
            <p:ph idx="4294967295" type="body"/>
          </p:nvPr>
        </p:nvSpPr>
        <p:spPr>
          <a:xfrm>
            <a:off x="4147075" y="1108350"/>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Features</a:t>
            </a:r>
            <a:endParaRPr sz="1100">
              <a:solidFill>
                <a:schemeClr val="lt1"/>
              </a:solidFill>
            </a:endParaRPr>
          </a:p>
        </p:txBody>
      </p:sp>
      <p:sp>
        <p:nvSpPr>
          <p:cNvPr id="175" name="Google Shape;175;p19"/>
          <p:cNvSpPr txBox="1"/>
          <p:nvPr>
            <p:ph idx="4294967295" type="body"/>
          </p:nvPr>
        </p:nvSpPr>
        <p:spPr>
          <a:xfrm>
            <a:off x="4147075" y="1457100"/>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chemeClr val="dk1"/>
                </a:solidFill>
              </a:rPr>
              <a:t>32,820 rows, 44 columns</a:t>
            </a:r>
            <a:endParaRPr sz="1300">
              <a:solidFill>
                <a:schemeClr val="dk1"/>
              </a:solidFill>
            </a:endParaRPr>
          </a:p>
        </p:txBody>
      </p:sp>
      <p:grpSp>
        <p:nvGrpSpPr>
          <p:cNvPr id="176" name="Google Shape;176;p19"/>
          <p:cNvGrpSpPr/>
          <p:nvPr/>
        </p:nvGrpSpPr>
        <p:grpSpPr>
          <a:xfrm>
            <a:off x="2918113" y="1746605"/>
            <a:ext cx="4160100" cy="531900"/>
            <a:chOff x="2918113" y="1746605"/>
            <a:chExt cx="4160100" cy="531900"/>
          </a:xfrm>
        </p:grpSpPr>
        <p:cxnSp>
          <p:nvCxnSpPr>
            <p:cNvPr id="177" name="Google Shape;177;p19"/>
            <p:cNvCxnSpPr>
              <a:stCxn id="172" idx="2"/>
              <a:endCxn id="178" idx="0"/>
            </p:cNvCxnSpPr>
            <p:nvPr/>
          </p:nvCxnSpPr>
          <p:spPr>
            <a:xfrm rot="5400000">
              <a:off x="3628963" y="1035755"/>
              <a:ext cx="531900" cy="1953600"/>
            </a:xfrm>
            <a:prstGeom prst="bentConnector3">
              <a:avLst>
                <a:gd fmla="val 49999" name="adj1"/>
              </a:avLst>
            </a:prstGeom>
            <a:noFill/>
            <a:ln cap="flat" cmpd="sng" w="9525">
              <a:solidFill>
                <a:schemeClr val="lt2"/>
              </a:solidFill>
              <a:prstDash val="solid"/>
              <a:round/>
              <a:headEnd len="sm" w="sm" type="none"/>
              <a:tailEnd len="sm" w="sm" type="none"/>
            </a:ln>
          </p:spPr>
        </p:cxnSp>
        <p:cxnSp>
          <p:nvCxnSpPr>
            <p:cNvPr id="179" name="Google Shape;179;p19"/>
            <p:cNvCxnSpPr>
              <a:stCxn id="172" idx="2"/>
              <a:endCxn id="180" idx="0"/>
            </p:cNvCxnSpPr>
            <p:nvPr/>
          </p:nvCxnSpPr>
          <p:spPr>
            <a:xfrm flipH="1" rot="-5400000">
              <a:off x="5709013" y="909305"/>
              <a:ext cx="531900" cy="2206500"/>
            </a:xfrm>
            <a:prstGeom prst="bentConnector3">
              <a:avLst>
                <a:gd fmla="val 49999" name="adj1"/>
              </a:avLst>
            </a:prstGeom>
            <a:noFill/>
            <a:ln cap="flat" cmpd="sng" w="9525">
              <a:solidFill>
                <a:schemeClr val="lt2"/>
              </a:solidFill>
              <a:prstDash val="solid"/>
              <a:round/>
              <a:headEnd len="sm" w="sm" type="none"/>
              <a:tailEnd len="sm" w="sm" type="none"/>
            </a:ln>
          </p:spPr>
        </p:cxnSp>
      </p:grpSp>
      <p:sp>
        <p:nvSpPr>
          <p:cNvPr id="181" name="Google Shape;181;p19"/>
          <p:cNvSpPr/>
          <p:nvPr/>
        </p:nvSpPr>
        <p:spPr>
          <a:xfrm>
            <a:off x="2194905" y="2278501"/>
            <a:ext cx="1449300" cy="6972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9"/>
          <p:cNvSpPr/>
          <p:nvPr/>
        </p:nvSpPr>
        <p:spPr>
          <a:xfrm>
            <a:off x="2193500" y="2278499"/>
            <a:ext cx="1449300" cy="30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
          <p:cNvSpPr txBox="1"/>
          <p:nvPr>
            <p:ph idx="4294967295" type="body"/>
          </p:nvPr>
        </p:nvSpPr>
        <p:spPr>
          <a:xfrm>
            <a:off x="2193650" y="2337750"/>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Numerical</a:t>
            </a:r>
            <a:endParaRPr sz="1100">
              <a:solidFill>
                <a:schemeClr val="lt1"/>
              </a:solidFill>
            </a:endParaRPr>
          </a:p>
        </p:txBody>
      </p:sp>
      <p:sp>
        <p:nvSpPr>
          <p:cNvPr id="183" name="Google Shape;183;p19"/>
          <p:cNvSpPr txBox="1"/>
          <p:nvPr>
            <p:ph idx="4294967295" type="body"/>
          </p:nvPr>
        </p:nvSpPr>
        <p:spPr>
          <a:xfrm>
            <a:off x="2193638" y="2686588"/>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000">
                <a:solidFill>
                  <a:schemeClr val="dk1"/>
                </a:solidFill>
              </a:rPr>
              <a:t>Demographic and Financial</a:t>
            </a:r>
            <a:endParaRPr sz="1000">
              <a:solidFill>
                <a:schemeClr val="dk1"/>
              </a:solidFill>
            </a:endParaRPr>
          </a:p>
        </p:txBody>
      </p:sp>
      <p:grpSp>
        <p:nvGrpSpPr>
          <p:cNvPr id="184" name="Google Shape;184;p19"/>
          <p:cNvGrpSpPr/>
          <p:nvPr/>
        </p:nvGrpSpPr>
        <p:grpSpPr>
          <a:xfrm>
            <a:off x="1256055" y="2975701"/>
            <a:ext cx="3327300" cy="531900"/>
            <a:chOff x="1256055" y="2975701"/>
            <a:chExt cx="3327300" cy="531900"/>
          </a:xfrm>
        </p:grpSpPr>
        <p:cxnSp>
          <p:nvCxnSpPr>
            <p:cNvPr id="185" name="Google Shape;185;p19"/>
            <p:cNvCxnSpPr>
              <a:stCxn id="181" idx="2"/>
              <a:endCxn id="186" idx="0"/>
            </p:cNvCxnSpPr>
            <p:nvPr/>
          </p:nvCxnSpPr>
          <p:spPr>
            <a:xfrm>
              <a:off x="2919555" y="2975701"/>
              <a:ext cx="0" cy="531900"/>
            </a:xfrm>
            <a:prstGeom prst="straightConnector1">
              <a:avLst/>
            </a:prstGeom>
            <a:noFill/>
            <a:ln cap="flat" cmpd="sng" w="9525">
              <a:solidFill>
                <a:schemeClr val="lt2"/>
              </a:solidFill>
              <a:prstDash val="solid"/>
              <a:round/>
              <a:headEnd len="sm" w="sm" type="none"/>
              <a:tailEnd len="sm" w="sm" type="none"/>
            </a:ln>
          </p:spPr>
        </p:cxnSp>
        <p:cxnSp>
          <p:nvCxnSpPr>
            <p:cNvPr id="187" name="Google Shape;187;p19"/>
            <p:cNvCxnSpPr>
              <a:stCxn id="181" idx="2"/>
              <a:endCxn id="188" idx="0"/>
            </p:cNvCxnSpPr>
            <p:nvPr/>
          </p:nvCxnSpPr>
          <p:spPr>
            <a:xfrm rot="5400000">
              <a:off x="1821855" y="2409901"/>
              <a:ext cx="531900" cy="1663500"/>
            </a:xfrm>
            <a:prstGeom prst="bentConnector3">
              <a:avLst>
                <a:gd fmla="val 50012" name="adj1"/>
              </a:avLst>
            </a:prstGeom>
            <a:noFill/>
            <a:ln cap="flat" cmpd="sng" w="9525">
              <a:solidFill>
                <a:schemeClr val="lt2"/>
              </a:solidFill>
              <a:prstDash val="solid"/>
              <a:round/>
              <a:headEnd len="sm" w="sm" type="none"/>
              <a:tailEnd len="sm" w="sm" type="none"/>
            </a:ln>
          </p:spPr>
        </p:cxnSp>
        <p:cxnSp>
          <p:nvCxnSpPr>
            <p:cNvPr id="189" name="Google Shape;189;p19"/>
            <p:cNvCxnSpPr>
              <a:stCxn id="181" idx="2"/>
              <a:endCxn id="190" idx="0"/>
            </p:cNvCxnSpPr>
            <p:nvPr/>
          </p:nvCxnSpPr>
          <p:spPr>
            <a:xfrm flipH="1" rot="-5400000">
              <a:off x="3485505" y="2409751"/>
              <a:ext cx="531900" cy="1663800"/>
            </a:xfrm>
            <a:prstGeom prst="bentConnector3">
              <a:avLst>
                <a:gd fmla="val 50012" name="adj1"/>
              </a:avLst>
            </a:prstGeom>
            <a:noFill/>
            <a:ln cap="flat" cmpd="sng" w="9525">
              <a:solidFill>
                <a:schemeClr val="lt2"/>
              </a:solidFill>
              <a:prstDash val="solid"/>
              <a:round/>
              <a:headEnd len="sm" w="sm" type="none"/>
              <a:tailEnd len="sm" w="sm" type="none"/>
            </a:ln>
          </p:spPr>
        </p:cxnSp>
      </p:grpSp>
      <p:sp>
        <p:nvSpPr>
          <p:cNvPr id="191" name="Google Shape;191;p19"/>
          <p:cNvSpPr/>
          <p:nvPr/>
        </p:nvSpPr>
        <p:spPr>
          <a:xfrm>
            <a:off x="531436" y="3508068"/>
            <a:ext cx="1449300" cy="6975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9"/>
          <p:cNvSpPr/>
          <p:nvPr/>
        </p:nvSpPr>
        <p:spPr>
          <a:xfrm>
            <a:off x="531450" y="3507724"/>
            <a:ext cx="1449300" cy="30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
          <p:cNvSpPr txBox="1"/>
          <p:nvPr>
            <p:ph idx="4294967295" type="body"/>
          </p:nvPr>
        </p:nvSpPr>
        <p:spPr>
          <a:xfrm>
            <a:off x="531750" y="3566975"/>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Expenditure</a:t>
            </a:r>
            <a:endParaRPr sz="1100">
              <a:solidFill>
                <a:schemeClr val="lt1"/>
              </a:solidFill>
            </a:endParaRPr>
          </a:p>
        </p:txBody>
      </p:sp>
      <p:sp>
        <p:nvSpPr>
          <p:cNvPr id="193" name="Google Shape;193;p19"/>
          <p:cNvSpPr txBox="1"/>
          <p:nvPr>
            <p:ph idx="4294967295" type="body"/>
          </p:nvPr>
        </p:nvSpPr>
        <p:spPr>
          <a:xfrm>
            <a:off x="531738" y="3917738"/>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chemeClr val="dk1"/>
                </a:solidFill>
              </a:rPr>
              <a:t>Credit and Debit Cards</a:t>
            </a:r>
            <a:endParaRPr sz="1200">
              <a:solidFill>
                <a:schemeClr val="dk1"/>
              </a:solidFill>
            </a:endParaRPr>
          </a:p>
        </p:txBody>
      </p:sp>
      <p:sp>
        <p:nvSpPr>
          <p:cNvPr id="194" name="Google Shape;194;p19"/>
          <p:cNvSpPr/>
          <p:nvPr/>
        </p:nvSpPr>
        <p:spPr>
          <a:xfrm>
            <a:off x="2194998" y="3508068"/>
            <a:ext cx="1449300" cy="6975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
          <p:cNvSpPr/>
          <p:nvPr/>
        </p:nvSpPr>
        <p:spPr>
          <a:xfrm>
            <a:off x="2195013" y="3507724"/>
            <a:ext cx="1449300" cy="30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
          <p:cNvSpPr txBox="1"/>
          <p:nvPr>
            <p:ph idx="4294967295" type="body"/>
          </p:nvPr>
        </p:nvSpPr>
        <p:spPr>
          <a:xfrm>
            <a:off x="2195138" y="3566975"/>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Loan Info</a:t>
            </a:r>
            <a:endParaRPr sz="1100">
              <a:solidFill>
                <a:schemeClr val="lt1"/>
              </a:solidFill>
            </a:endParaRPr>
          </a:p>
        </p:txBody>
      </p:sp>
      <p:sp>
        <p:nvSpPr>
          <p:cNvPr id="196" name="Google Shape;196;p19"/>
          <p:cNvSpPr txBox="1"/>
          <p:nvPr>
            <p:ph idx="4294967295" type="body"/>
          </p:nvPr>
        </p:nvSpPr>
        <p:spPr>
          <a:xfrm>
            <a:off x="2195163" y="3917738"/>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chemeClr val="dk1"/>
                </a:solidFill>
              </a:rPr>
              <a:t>Personal, Vehicle</a:t>
            </a:r>
            <a:endParaRPr sz="1300">
              <a:solidFill>
                <a:schemeClr val="dk1"/>
              </a:solidFill>
            </a:endParaRPr>
          </a:p>
        </p:txBody>
      </p:sp>
      <p:sp>
        <p:nvSpPr>
          <p:cNvPr id="197" name="Google Shape;197;p19"/>
          <p:cNvSpPr/>
          <p:nvPr/>
        </p:nvSpPr>
        <p:spPr>
          <a:xfrm>
            <a:off x="3858523" y="3508068"/>
            <a:ext cx="1449300" cy="6975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
          <p:cNvSpPr/>
          <p:nvPr/>
        </p:nvSpPr>
        <p:spPr>
          <a:xfrm>
            <a:off x="3858600" y="3507724"/>
            <a:ext cx="1449300" cy="30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9"/>
          <p:cNvSpPr txBox="1"/>
          <p:nvPr>
            <p:ph idx="4294967295" type="body"/>
          </p:nvPr>
        </p:nvSpPr>
        <p:spPr>
          <a:xfrm>
            <a:off x="3858613" y="3566975"/>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Investments</a:t>
            </a:r>
            <a:endParaRPr sz="1100">
              <a:solidFill>
                <a:schemeClr val="lt1"/>
              </a:solidFill>
            </a:endParaRPr>
          </a:p>
        </p:txBody>
      </p:sp>
      <p:sp>
        <p:nvSpPr>
          <p:cNvPr id="199" name="Google Shape;199;p19"/>
          <p:cNvSpPr txBox="1"/>
          <p:nvPr>
            <p:ph idx="4294967295" type="body"/>
          </p:nvPr>
        </p:nvSpPr>
        <p:spPr>
          <a:xfrm>
            <a:off x="3858700" y="3917738"/>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chemeClr val="dk1"/>
                </a:solidFill>
              </a:rPr>
              <a:t>Demat, FD, Insurance</a:t>
            </a:r>
            <a:endParaRPr sz="1200">
              <a:solidFill>
                <a:schemeClr val="dk1"/>
              </a:solidFill>
            </a:endParaRPr>
          </a:p>
        </p:txBody>
      </p:sp>
      <p:sp>
        <p:nvSpPr>
          <p:cNvPr id="200" name="Google Shape;200;p19"/>
          <p:cNvSpPr/>
          <p:nvPr/>
        </p:nvSpPr>
        <p:spPr>
          <a:xfrm>
            <a:off x="6353691" y="2278501"/>
            <a:ext cx="1449300" cy="6972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9"/>
          <p:cNvSpPr/>
          <p:nvPr/>
        </p:nvSpPr>
        <p:spPr>
          <a:xfrm>
            <a:off x="6353700" y="2278499"/>
            <a:ext cx="1449300" cy="30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9"/>
          <p:cNvSpPr txBox="1"/>
          <p:nvPr>
            <p:ph idx="4294967295" type="body"/>
          </p:nvPr>
        </p:nvSpPr>
        <p:spPr>
          <a:xfrm>
            <a:off x="6353925" y="2337750"/>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Categorical</a:t>
            </a:r>
            <a:endParaRPr sz="1100">
              <a:solidFill>
                <a:schemeClr val="lt1"/>
              </a:solidFill>
            </a:endParaRPr>
          </a:p>
        </p:txBody>
      </p:sp>
      <p:sp>
        <p:nvSpPr>
          <p:cNvPr id="202" name="Google Shape;202;p19"/>
          <p:cNvSpPr txBox="1"/>
          <p:nvPr>
            <p:ph idx="4294967295" type="body"/>
          </p:nvPr>
        </p:nvSpPr>
        <p:spPr>
          <a:xfrm>
            <a:off x="6352413" y="2686588"/>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chemeClr val="dk1"/>
                </a:solidFill>
              </a:rPr>
              <a:t>Binary Descriptors</a:t>
            </a:r>
            <a:endParaRPr sz="1300">
              <a:solidFill>
                <a:schemeClr val="dk1"/>
              </a:solidFill>
            </a:endParaRPr>
          </a:p>
        </p:txBody>
      </p:sp>
      <p:grpSp>
        <p:nvGrpSpPr>
          <p:cNvPr id="203" name="Google Shape;203;p19"/>
          <p:cNvGrpSpPr/>
          <p:nvPr/>
        </p:nvGrpSpPr>
        <p:grpSpPr>
          <a:xfrm>
            <a:off x="6246741" y="2975701"/>
            <a:ext cx="1663500" cy="531900"/>
            <a:chOff x="6246741" y="2975701"/>
            <a:chExt cx="1663500" cy="531900"/>
          </a:xfrm>
        </p:grpSpPr>
        <p:cxnSp>
          <p:nvCxnSpPr>
            <p:cNvPr id="204" name="Google Shape;204;p19"/>
            <p:cNvCxnSpPr>
              <a:stCxn id="200" idx="2"/>
              <a:endCxn id="205" idx="0"/>
            </p:cNvCxnSpPr>
            <p:nvPr/>
          </p:nvCxnSpPr>
          <p:spPr>
            <a:xfrm rot="5400000">
              <a:off x="6396591" y="2825851"/>
              <a:ext cx="531900" cy="831600"/>
            </a:xfrm>
            <a:prstGeom prst="bentConnector3">
              <a:avLst>
                <a:gd fmla="val 50012" name="adj1"/>
              </a:avLst>
            </a:prstGeom>
            <a:noFill/>
            <a:ln cap="flat" cmpd="sng" w="9525">
              <a:solidFill>
                <a:schemeClr val="lt2"/>
              </a:solidFill>
              <a:prstDash val="solid"/>
              <a:round/>
              <a:headEnd len="sm" w="sm" type="none"/>
              <a:tailEnd len="sm" w="sm" type="none"/>
            </a:ln>
          </p:spPr>
        </p:cxnSp>
        <p:cxnSp>
          <p:nvCxnSpPr>
            <p:cNvPr id="206" name="Google Shape;206;p19"/>
            <p:cNvCxnSpPr>
              <a:stCxn id="200" idx="2"/>
              <a:endCxn id="207" idx="0"/>
            </p:cNvCxnSpPr>
            <p:nvPr/>
          </p:nvCxnSpPr>
          <p:spPr>
            <a:xfrm flipH="1" rot="-5400000">
              <a:off x="7228341" y="2825701"/>
              <a:ext cx="531900" cy="831900"/>
            </a:xfrm>
            <a:prstGeom prst="bentConnector3">
              <a:avLst>
                <a:gd fmla="val 50013" name="adj1"/>
              </a:avLst>
            </a:prstGeom>
            <a:noFill/>
            <a:ln cap="flat" cmpd="sng" w="9525">
              <a:solidFill>
                <a:schemeClr val="lt2"/>
              </a:solidFill>
              <a:prstDash val="solid"/>
              <a:round/>
              <a:headEnd len="sm" w="sm" type="none"/>
              <a:tailEnd len="sm" w="sm" type="none"/>
            </a:ln>
          </p:spPr>
        </p:cxnSp>
      </p:grpSp>
      <p:sp>
        <p:nvSpPr>
          <p:cNvPr id="208" name="Google Shape;208;p19"/>
          <p:cNvSpPr/>
          <p:nvPr/>
        </p:nvSpPr>
        <p:spPr>
          <a:xfrm>
            <a:off x="5522206" y="3507819"/>
            <a:ext cx="1449000" cy="6972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
          <p:cNvSpPr/>
          <p:nvPr/>
        </p:nvSpPr>
        <p:spPr>
          <a:xfrm>
            <a:off x="5522175" y="3507724"/>
            <a:ext cx="1449300" cy="30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
          <p:cNvSpPr txBox="1"/>
          <p:nvPr>
            <p:ph idx="4294967295" type="body"/>
          </p:nvPr>
        </p:nvSpPr>
        <p:spPr>
          <a:xfrm>
            <a:off x="5522338" y="3566975"/>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Account Type</a:t>
            </a:r>
            <a:endParaRPr sz="1100">
              <a:solidFill>
                <a:schemeClr val="lt1"/>
              </a:solidFill>
            </a:endParaRPr>
          </a:p>
        </p:txBody>
      </p:sp>
      <p:sp>
        <p:nvSpPr>
          <p:cNvPr id="210" name="Google Shape;210;p19"/>
          <p:cNvSpPr txBox="1"/>
          <p:nvPr>
            <p:ph idx="4294967295" type="body"/>
          </p:nvPr>
        </p:nvSpPr>
        <p:spPr>
          <a:xfrm>
            <a:off x="5522263" y="3917738"/>
            <a:ext cx="1449000" cy="1899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300">
                <a:solidFill>
                  <a:schemeClr val="dk1"/>
                </a:solidFill>
              </a:rPr>
              <a:t>Current / Savings</a:t>
            </a:r>
            <a:endParaRPr sz="1300">
              <a:solidFill>
                <a:schemeClr val="dk1"/>
              </a:solidFill>
            </a:endParaRPr>
          </a:p>
        </p:txBody>
      </p:sp>
      <p:sp>
        <p:nvSpPr>
          <p:cNvPr id="211" name="Google Shape;211;p19"/>
          <p:cNvSpPr/>
          <p:nvPr/>
        </p:nvSpPr>
        <p:spPr>
          <a:xfrm>
            <a:off x="7185791" y="3507819"/>
            <a:ext cx="1449000" cy="697200"/>
          </a:xfrm>
          <a:prstGeom prst="rect">
            <a:avLst/>
          </a:prstGeom>
          <a:noFill/>
          <a:ln cap="flat" cmpd="sng" w="9525">
            <a:solidFill>
              <a:schemeClr val="dk1"/>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9"/>
          <p:cNvSpPr/>
          <p:nvPr/>
        </p:nvSpPr>
        <p:spPr>
          <a:xfrm>
            <a:off x="7185650" y="3507737"/>
            <a:ext cx="1449300" cy="30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9"/>
          <p:cNvSpPr txBox="1"/>
          <p:nvPr>
            <p:ph idx="4294967295" type="body"/>
          </p:nvPr>
        </p:nvSpPr>
        <p:spPr>
          <a:xfrm>
            <a:off x="7185738" y="3566975"/>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Gender of Holder</a:t>
            </a:r>
            <a:endParaRPr sz="1100">
              <a:solidFill>
                <a:schemeClr val="lt1"/>
              </a:solidFill>
            </a:endParaRPr>
          </a:p>
        </p:txBody>
      </p:sp>
      <p:sp>
        <p:nvSpPr>
          <p:cNvPr id="213" name="Google Shape;213;p19"/>
          <p:cNvSpPr txBox="1"/>
          <p:nvPr>
            <p:ph idx="4294967295" type="body"/>
          </p:nvPr>
        </p:nvSpPr>
        <p:spPr>
          <a:xfrm>
            <a:off x="7185688" y="3917738"/>
            <a:ext cx="1449000" cy="189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chemeClr val="dk1"/>
                </a:solidFill>
              </a:rPr>
              <a:t>Male / Female</a:t>
            </a:r>
            <a:endParaRPr sz="13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0"/>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Visuals</a:t>
            </a:r>
            <a:endParaRPr/>
          </a:p>
        </p:txBody>
      </p:sp>
      <p:pic>
        <p:nvPicPr>
          <p:cNvPr id="219" name="Google Shape;219;p20"/>
          <p:cNvPicPr preferRelativeResize="0"/>
          <p:nvPr/>
        </p:nvPicPr>
        <p:blipFill>
          <a:blip r:embed="rId3">
            <a:alphaModFix/>
          </a:blip>
          <a:stretch>
            <a:fillRect/>
          </a:stretch>
        </p:blipFill>
        <p:spPr>
          <a:xfrm>
            <a:off x="910925" y="1224887"/>
            <a:ext cx="7322151" cy="2693725"/>
          </a:xfrm>
          <a:prstGeom prst="rect">
            <a:avLst/>
          </a:prstGeom>
          <a:noFill/>
          <a:ln>
            <a:noFill/>
          </a:ln>
        </p:spPr>
      </p:pic>
      <p:sp>
        <p:nvSpPr>
          <p:cNvPr id="220" name="Google Shape;220;p20"/>
          <p:cNvSpPr txBox="1"/>
          <p:nvPr/>
        </p:nvSpPr>
        <p:spPr>
          <a:xfrm>
            <a:off x="579550" y="3922300"/>
            <a:ext cx="7958400" cy="91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Target variable analysis on categorical features</a:t>
            </a:r>
            <a:endParaRPr>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1"/>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Visuals</a:t>
            </a:r>
            <a:endParaRPr/>
          </a:p>
        </p:txBody>
      </p:sp>
      <p:sp>
        <p:nvSpPr>
          <p:cNvPr id="226" name="Google Shape;226;p21"/>
          <p:cNvSpPr txBox="1"/>
          <p:nvPr/>
        </p:nvSpPr>
        <p:spPr>
          <a:xfrm>
            <a:off x="579550" y="3922300"/>
            <a:ext cx="7958400" cy="91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(L) Seasonal Expenditure Trends, Credit and Debit Card</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(R) Correlation Heatmap of features after preprocessing</a:t>
            </a:r>
            <a:endParaRPr>
              <a:latin typeface="Roboto"/>
              <a:ea typeface="Roboto"/>
              <a:cs typeface="Roboto"/>
              <a:sym typeface="Roboto"/>
            </a:endParaRPr>
          </a:p>
        </p:txBody>
      </p:sp>
      <p:pic>
        <p:nvPicPr>
          <p:cNvPr id="227" name="Google Shape;227;p21"/>
          <p:cNvPicPr preferRelativeResize="0"/>
          <p:nvPr/>
        </p:nvPicPr>
        <p:blipFill>
          <a:blip r:embed="rId3">
            <a:alphaModFix/>
          </a:blip>
          <a:stretch>
            <a:fillRect/>
          </a:stretch>
        </p:blipFill>
        <p:spPr>
          <a:xfrm>
            <a:off x="152400" y="1170200"/>
            <a:ext cx="2047300" cy="1640907"/>
          </a:xfrm>
          <a:prstGeom prst="rect">
            <a:avLst/>
          </a:prstGeom>
          <a:noFill/>
          <a:ln>
            <a:noFill/>
          </a:ln>
        </p:spPr>
      </p:pic>
      <p:pic>
        <p:nvPicPr>
          <p:cNvPr id="228" name="Google Shape;228;p21"/>
          <p:cNvPicPr preferRelativeResize="0"/>
          <p:nvPr/>
        </p:nvPicPr>
        <p:blipFill>
          <a:blip r:embed="rId4">
            <a:alphaModFix/>
          </a:blip>
          <a:stretch>
            <a:fillRect/>
          </a:stretch>
        </p:blipFill>
        <p:spPr>
          <a:xfrm>
            <a:off x="2368550" y="1170200"/>
            <a:ext cx="2047300" cy="1640907"/>
          </a:xfrm>
          <a:prstGeom prst="rect">
            <a:avLst/>
          </a:prstGeom>
          <a:noFill/>
          <a:ln>
            <a:noFill/>
          </a:ln>
        </p:spPr>
      </p:pic>
      <p:pic>
        <p:nvPicPr>
          <p:cNvPr id="229" name="Google Shape;229;p21"/>
          <p:cNvPicPr preferRelativeResize="0"/>
          <p:nvPr/>
        </p:nvPicPr>
        <p:blipFill>
          <a:blip r:embed="rId5">
            <a:alphaModFix/>
          </a:blip>
          <a:stretch>
            <a:fillRect/>
          </a:stretch>
        </p:blipFill>
        <p:spPr>
          <a:xfrm>
            <a:off x="5009025" y="486400"/>
            <a:ext cx="3970200" cy="3063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2"/>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Visuals</a:t>
            </a:r>
            <a:endParaRPr/>
          </a:p>
        </p:txBody>
      </p:sp>
      <p:sp>
        <p:nvSpPr>
          <p:cNvPr id="235" name="Google Shape;235;p22"/>
          <p:cNvSpPr txBox="1"/>
          <p:nvPr/>
        </p:nvSpPr>
        <p:spPr>
          <a:xfrm>
            <a:off x="579550" y="4531900"/>
            <a:ext cx="7958400" cy="91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Base model performances - 14 regressor models with different computation algorithms</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Evaluation metric - root mean squared logarithmic error</a:t>
            </a:r>
            <a:endParaRPr>
              <a:latin typeface="Roboto"/>
              <a:ea typeface="Roboto"/>
              <a:cs typeface="Roboto"/>
              <a:sym typeface="Roboto"/>
            </a:endParaRPr>
          </a:p>
        </p:txBody>
      </p:sp>
      <p:pic>
        <p:nvPicPr>
          <p:cNvPr id="236" name="Google Shape;236;p22"/>
          <p:cNvPicPr preferRelativeResize="0"/>
          <p:nvPr/>
        </p:nvPicPr>
        <p:blipFill>
          <a:blip r:embed="rId3">
            <a:alphaModFix/>
          </a:blip>
          <a:stretch>
            <a:fillRect/>
          </a:stretch>
        </p:blipFill>
        <p:spPr>
          <a:xfrm>
            <a:off x="1434175" y="952125"/>
            <a:ext cx="6027526" cy="35215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grpSp>
        <p:nvGrpSpPr>
          <p:cNvPr id="241" name="Google Shape;241;p23"/>
          <p:cNvGrpSpPr/>
          <p:nvPr/>
        </p:nvGrpSpPr>
        <p:grpSpPr>
          <a:xfrm>
            <a:off x="4939500" y="1219611"/>
            <a:ext cx="3837000" cy="2704200"/>
            <a:chOff x="4939500" y="1219611"/>
            <a:chExt cx="3837000" cy="2704200"/>
          </a:xfrm>
        </p:grpSpPr>
        <p:cxnSp>
          <p:nvCxnSpPr>
            <p:cNvPr id="242" name="Google Shape;242;p23"/>
            <p:cNvCxnSpPr/>
            <p:nvPr/>
          </p:nvCxnSpPr>
          <p:spPr>
            <a:xfrm>
              <a:off x="4939500"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243" name="Google Shape;243;p23"/>
            <p:cNvCxnSpPr/>
            <p:nvPr/>
          </p:nvCxnSpPr>
          <p:spPr>
            <a:xfrm>
              <a:off x="5365833"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244" name="Google Shape;244;p23"/>
            <p:cNvCxnSpPr/>
            <p:nvPr/>
          </p:nvCxnSpPr>
          <p:spPr>
            <a:xfrm>
              <a:off x="5792167"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245" name="Google Shape;245;p23"/>
            <p:cNvCxnSpPr/>
            <p:nvPr/>
          </p:nvCxnSpPr>
          <p:spPr>
            <a:xfrm>
              <a:off x="6218500"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246" name="Google Shape;246;p23"/>
            <p:cNvCxnSpPr/>
            <p:nvPr/>
          </p:nvCxnSpPr>
          <p:spPr>
            <a:xfrm>
              <a:off x="6644834"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247" name="Google Shape;247;p23"/>
            <p:cNvCxnSpPr/>
            <p:nvPr/>
          </p:nvCxnSpPr>
          <p:spPr>
            <a:xfrm>
              <a:off x="7071166"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248" name="Google Shape;248;p23"/>
            <p:cNvCxnSpPr/>
            <p:nvPr/>
          </p:nvCxnSpPr>
          <p:spPr>
            <a:xfrm>
              <a:off x="7497500"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249" name="Google Shape;249;p23"/>
            <p:cNvCxnSpPr/>
            <p:nvPr/>
          </p:nvCxnSpPr>
          <p:spPr>
            <a:xfrm>
              <a:off x="7923834"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250" name="Google Shape;250;p23"/>
            <p:cNvCxnSpPr/>
            <p:nvPr/>
          </p:nvCxnSpPr>
          <p:spPr>
            <a:xfrm>
              <a:off x="8350166"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251" name="Google Shape;251;p23"/>
            <p:cNvCxnSpPr/>
            <p:nvPr/>
          </p:nvCxnSpPr>
          <p:spPr>
            <a:xfrm>
              <a:off x="8776500" y="1219611"/>
              <a:ext cx="0" cy="2704200"/>
            </a:xfrm>
            <a:prstGeom prst="straightConnector1">
              <a:avLst/>
            </a:prstGeom>
            <a:noFill/>
            <a:ln cap="flat" cmpd="sng" w="9525">
              <a:solidFill>
                <a:schemeClr val="lt1"/>
              </a:solidFill>
              <a:prstDash val="dash"/>
              <a:round/>
              <a:headEnd len="sm" w="sm" type="none"/>
              <a:tailEnd len="sm" w="sm" type="none"/>
            </a:ln>
          </p:spPr>
        </p:cxnSp>
      </p:grpSp>
      <p:sp>
        <p:nvSpPr>
          <p:cNvPr id="252" name="Google Shape;252;p23"/>
          <p:cNvSpPr/>
          <p:nvPr/>
        </p:nvSpPr>
        <p:spPr>
          <a:xfrm>
            <a:off x="7014920" y="2133119"/>
            <a:ext cx="286500" cy="2865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3"/>
          <p:cNvSpPr txBox="1"/>
          <p:nvPr>
            <p:ph type="title"/>
          </p:nvPr>
        </p:nvSpPr>
        <p:spPr>
          <a:xfrm>
            <a:off x="265500" y="-52530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Impact</a:t>
            </a:r>
            <a:endParaRPr/>
          </a:p>
        </p:txBody>
      </p:sp>
      <p:sp>
        <p:nvSpPr>
          <p:cNvPr id="254" name="Google Shape;254;p23"/>
          <p:cNvSpPr txBox="1"/>
          <p:nvPr>
            <p:ph idx="1" type="subTitle"/>
          </p:nvPr>
        </p:nvSpPr>
        <p:spPr>
          <a:xfrm>
            <a:off x="265500" y="1702199"/>
            <a:ext cx="4045200" cy="1960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Stacked Model Metrics:</a:t>
            </a:r>
            <a:endParaRPr/>
          </a:p>
          <a:p>
            <a:pPr indent="0" lvl="0" marL="0" rtl="0" algn="l">
              <a:lnSpc>
                <a:spcPct val="115000"/>
              </a:lnSpc>
              <a:spcBef>
                <a:spcPts val="0"/>
              </a:spcBef>
              <a:spcAft>
                <a:spcPts val="0"/>
              </a:spcAft>
              <a:buNone/>
            </a:pPr>
            <a:r>
              <a:rPr lang="en" sz="1600">
                <a:latin typeface="Courier New"/>
                <a:ea typeface="Courier New"/>
                <a:cs typeface="Courier New"/>
                <a:sym typeface="Courier New"/>
              </a:rPr>
              <a:t>Mean Squared Error: 106869096.3068</a:t>
            </a:r>
            <a:endParaRPr sz="1600">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latin typeface="Courier New"/>
                <a:ea typeface="Courier New"/>
                <a:cs typeface="Courier New"/>
                <a:sym typeface="Courier New"/>
              </a:rPr>
              <a:t>Mean Absolute Error:4651.9976192</a:t>
            </a:r>
            <a:endParaRPr sz="1600">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latin typeface="Courier New"/>
                <a:ea typeface="Courier New"/>
                <a:cs typeface="Courier New"/>
                <a:sym typeface="Courier New"/>
              </a:rPr>
              <a:t>R2 Score: 0.160097</a:t>
            </a:r>
            <a:endParaRPr sz="1600">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latin typeface="Courier New"/>
                <a:ea typeface="Courier New"/>
                <a:cs typeface="Courier New"/>
                <a:sym typeface="Courier New"/>
              </a:rPr>
              <a:t>RMSLE: 1.11760446</a:t>
            </a:r>
            <a:endParaRPr sz="1600">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600">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latin typeface="Courier New"/>
                <a:ea typeface="Courier New"/>
                <a:cs typeface="Courier New"/>
                <a:sym typeface="Courier New"/>
              </a:rPr>
              <a:t>RMSLE*100 on Validation Online:</a:t>
            </a:r>
            <a:endParaRPr sz="1600">
              <a:latin typeface="Courier New"/>
              <a:ea typeface="Courier New"/>
              <a:cs typeface="Courier New"/>
              <a:sym typeface="Courier New"/>
            </a:endParaRPr>
          </a:p>
          <a:p>
            <a:pPr indent="0" lvl="0" marL="0" rtl="0" algn="l">
              <a:lnSpc>
                <a:spcPct val="115000"/>
              </a:lnSpc>
              <a:spcBef>
                <a:spcPts val="0"/>
              </a:spcBef>
              <a:spcAft>
                <a:spcPts val="0"/>
              </a:spcAft>
              <a:buNone/>
            </a:pPr>
            <a:r>
              <a:rPr lang="en" sz="1600">
                <a:latin typeface="Courier New"/>
                <a:ea typeface="Courier New"/>
                <a:cs typeface="Courier New"/>
                <a:sym typeface="Courier New"/>
              </a:rPr>
              <a:t>116.1218436 </a:t>
            </a:r>
            <a:endParaRPr sz="1600">
              <a:latin typeface="Courier New"/>
              <a:ea typeface="Courier New"/>
              <a:cs typeface="Courier New"/>
              <a:sym typeface="Courier New"/>
            </a:endParaRPr>
          </a:p>
        </p:txBody>
      </p:sp>
      <p:grpSp>
        <p:nvGrpSpPr>
          <p:cNvPr id="255" name="Google Shape;255;p23"/>
          <p:cNvGrpSpPr/>
          <p:nvPr/>
        </p:nvGrpSpPr>
        <p:grpSpPr>
          <a:xfrm>
            <a:off x="4939534" y="2017046"/>
            <a:ext cx="3825543" cy="1573620"/>
            <a:chOff x="1000000" y="2393988"/>
            <a:chExt cx="4144235" cy="1704713"/>
          </a:xfrm>
        </p:grpSpPr>
        <p:sp>
          <p:nvSpPr>
            <p:cNvPr id="256" name="Google Shape;256;p23"/>
            <p:cNvSpPr/>
            <p:nvPr/>
          </p:nvSpPr>
          <p:spPr>
            <a:xfrm>
              <a:off x="1000000" y="2440003"/>
              <a:ext cx="4144235" cy="1631269"/>
            </a:xfrm>
            <a:custGeom>
              <a:rect b="b" l="l" r="r" t="t"/>
              <a:pathLst>
                <a:path extrusionOk="0" h="90088" w="165422">
                  <a:moveTo>
                    <a:pt x="0" y="65550"/>
                  </a:moveTo>
                  <a:cubicBezTo>
                    <a:pt x="3559" y="56002"/>
                    <a:pt x="14632" y="11595"/>
                    <a:pt x="21355" y="8262"/>
                  </a:cubicBezTo>
                  <a:cubicBezTo>
                    <a:pt x="28078" y="4929"/>
                    <a:pt x="34067" y="46906"/>
                    <a:pt x="40338" y="45550"/>
                  </a:cubicBezTo>
                  <a:cubicBezTo>
                    <a:pt x="46609" y="44194"/>
                    <a:pt x="52711" y="2161"/>
                    <a:pt x="58982" y="127"/>
                  </a:cubicBezTo>
                  <a:cubicBezTo>
                    <a:pt x="65253" y="-1907"/>
                    <a:pt x="71807" y="30974"/>
                    <a:pt x="77965" y="33347"/>
                  </a:cubicBezTo>
                  <a:cubicBezTo>
                    <a:pt x="84123" y="35720"/>
                    <a:pt x="90055" y="6285"/>
                    <a:pt x="95931" y="14364"/>
                  </a:cubicBezTo>
                  <a:cubicBezTo>
                    <a:pt x="101807" y="22443"/>
                    <a:pt x="107626" y="77414"/>
                    <a:pt x="113219" y="81821"/>
                  </a:cubicBezTo>
                  <a:cubicBezTo>
                    <a:pt x="118812" y="86228"/>
                    <a:pt x="123671" y="39448"/>
                    <a:pt x="129490" y="40804"/>
                  </a:cubicBezTo>
                  <a:cubicBezTo>
                    <a:pt x="135309" y="42160"/>
                    <a:pt x="142145" y="92047"/>
                    <a:pt x="148134" y="89957"/>
                  </a:cubicBezTo>
                  <a:cubicBezTo>
                    <a:pt x="154123" y="87867"/>
                    <a:pt x="162541" y="38545"/>
                    <a:pt x="165422" y="28262"/>
                  </a:cubicBezTo>
                </a:path>
              </a:pathLst>
            </a:custGeom>
            <a:noFill/>
            <a:ln cap="flat" cmpd="sng" w="19050">
              <a:solidFill>
                <a:schemeClr val="lt1"/>
              </a:solidFill>
              <a:prstDash val="solid"/>
              <a:round/>
              <a:headEnd len="med" w="med" type="oval"/>
              <a:tailEnd len="med" w="med" type="oval"/>
            </a:ln>
          </p:spPr>
        </p:sp>
        <p:sp>
          <p:nvSpPr>
            <p:cNvPr id="257" name="Google Shape;257;p23"/>
            <p:cNvSpPr/>
            <p:nvPr/>
          </p:nvSpPr>
          <p:spPr>
            <a:xfrm>
              <a:off x="4658400" y="4014100"/>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3"/>
            <p:cNvSpPr/>
            <p:nvPr/>
          </p:nvSpPr>
          <p:spPr>
            <a:xfrm>
              <a:off x="4195525" y="3147350"/>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3"/>
            <p:cNvSpPr/>
            <p:nvPr/>
          </p:nvSpPr>
          <p:spPr>
            <a:xfrm>
              <a:off x="3800700" y="3868900"/>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3"/>
            <p:cNvSpPr/>
            <p:nvPr/>
          </p:nvSpPr>
          <p:spPr>
            <a:xfrm>
              <a:off x="3358650" y="2637813"/>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3"/>
            <p:cNvSpPr/>
            <p:nvPr/>
          </p:nvSpPr>
          <p:spPr>
            <a:xfrm>
              <a:off x="2909400" y="2993013"/>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3"/>
            <p:cNvSpPr/>
            <p:nvPr/>
          </p:nvSpPr>
          <p:spPr>
            <a:xfrm>
              <a:off x="2437450" y="2393988"/>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3"/>
            <p:cNvSpPr/>
            <p:nvPr/>
          </p:nvSpPr>
          <p:spPr>
            <a:xfrm>
              <a:off x="1974575" y="3213325"/>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3"/>
            <p:cNvSpPr/>
            <p:nvPr/>
          </p:nvSpPr>
          <p:spPr>
            <a:xfrm>
              <a:off x="1500000" y="2553225"/>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 name="Google Shape;265;p23"/>
          <p:cNvGrpSpPr/>
          <p:nvPr/>
        </p:nvGrpSpPr>
        <p:grpSpPr>
          <a:xfrm>
            <a:off x="4939557" y="1778136"/>
            <a:ext cx="3836911" cy="1503799"/>
            <a:chOff x="1000025" y="2059300"/>
            <a:chExt cx="4156550" cy="1629075"/>
          </a:xfrm>
        </p:grpSpPr>
        <p:sp>
          <p:nvSpPr>
            <p:cNvPr id="266" name="Google Shape;266;p23"/>
            <p:cNvSpPr/>
            <p:nvPr/>
          </p:nvSpPr>
          <p:spPr>
            <a:xfrm>
              <a:off x="1000025" y="2083952"/>
              <a:ext cx="4156550" cy="1576975"/>
            </a:xfrm>
            <a:custGeom>
              <a:rect b="b" l="l" r="r" t="t"/>
              <a:pathLst>
                <a:path extrusionOk="0" h="63079" w="166262">
                  <a:moveTo>
                    <a:pt x="0" y="34952"/>
                  </a:moveTo>
                  <a:cubicBezTo>
                    <a:pt x="3623" y="29133"/>
                    <a:pt x="14946" y="1167"/>
                    <a:pt x="21740" y="37"/>
                  </a:cubicBezTo>
                  <a:cubicBezTo>
                    <a:pt x="28534" y="-1093"/>
                    <a:pt x="34478" y="24048"/>
                    <a:pt x="40762" y="28172"/>
                  </a:cubicBezTo>
                  <a:cubicBezTo>
                    <a:pt x="47046" y="32296"/>
                    <a:pt x="53256" y="18986"/>
                    <a:pt x="59446" y="24782"/>
                  </a:cubicBezTo>
                  <a:cubicBezTo>
                    <a:pt x="65636" y="30578"/>
                    <a:pt x="71730" y="60803"/>
                    <a:pt x="77901" y="62950"/>
                  </a:cubicBezTo>
                  <a:cubicBezTo>
                    <a:pt x="84072" y="65097"/>
                    <a:pt x="90490" y="39675"/>
                    <a:pt x="96472" y="37664"/>
                  </a:cubicBezTo>
                  <a:cubicBezTo>
                    <a:pt x="102455" y="35653"/>
                    <a:pt x="108078" y="54726"/>
                    <a:pt x="113796" y="50884"/>
                  </a:cubicBezTo>
                  <a:cubicBezTo>
                    <a:pt x="119514" y="47042"/>
                    <a:pt x="125063" y="18059"/>
                    <a:pt x="130781" y="14613"/>
                  </a:cubicBezTo>
                  <a:cubicBezTo>
                    <a:pt x="136499" y="11167"/>
                    <a:pt x="142192" y="30515"/>
                    <a:pt x="148105" y="30206"/>
                  </a:cubicBezTo>
                  <a:cubicBezTo>
                    <a:pt x="154019" y="29897"/>
                    <a:pt x="163236" y="15665"/>
                    <a:pt x="166262" y="12757"/>
                  </a:cubicBezTo>
                </a:path>
              </a:pathLst>
            </a:custGeom>
            <a:noFill/>
            <a:ln cap="flat" cmpd="sng" w="19050">
              <a:solidFill>
                <a:schemeClr val="accent4"/>
              </a:solidFill>
              <a:prstDash val="solid"/>
              <a:round/>
              <a:headEnd len="med" w="med" type="oval"/>
              <a:tailEnd len="med" w="med" type="oval"/>
            </a:ln>
          </p:spPr>
        </p:sp>
        <p:sp>
          <p:nvSpPr>
            <p:cNvPr id="267" name="Google Shape;267;p23"/>
            <p:cNvSpPr/>
            <p:nvPr/>
          </p:nvSpPr>
          <p:spPr>
            <a:xfrm>
              <a:off x="1500000" y="2059300"/>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3"/>
            <p:cNvSpPr/>
            <p:nvPr/>
          </p:nvSpPr>
          <p:spPr>
            <a:xfrm>
              <a:off x="1974575" y="2737275"/>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3"/>
            <p:cNvSpPr/>
            <p:nvPr/>
          </p:nvSpPr>
          <p:spPr>
            <a:xfrm>
              <a:off x="2437450" y="2652675"/>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3"/>
            <p:cNvSpPr/>
            <p:nvPr/>
          </p:nvSpPr>
          <p:spPr>
            <a:xfrm>
              <a:off x="2909400" y="3603775"/>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3"/>
            <p:cNvSpPr/>
            <p:nvPr/>
          </p:nvSpPr>
          <p:spPr>
            <a:xfrm>
              <a:off x="3358650" y="2993025"/>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3"/>
            <p:cNvSpPr/>
            <p:nvPr/>
          </p:nvSpPr>
          <p:spPr>
            <a:xfrm>
              <a:off x="3780700" y="3315225"/>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3"/>
            <p:cNvSpPr/>
            <p:nvPr/>
          </p:nvSpPr>
          <p:spPr>
            <a:xfrm>
              <a:off x="4216350" y="2412175"/>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3"/>
            <p:cNvSpPr/>
            <p:nvPr/>
          </p:nvSpPr>
          <p:spPr>
            <a:xfrm>
              <a:off x="4658400" y="2802450"/>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4"/>
          <p:cNvSpPr txBox="1"/>
          <p:nvPr>
            <p:ph type="title"/>
          </p:nvPr>
        </p:nvSpPr>
        <p:spPr>
          <a:xfrm>
            <a:off x="311700" y="1256050"/>
            <a:ext cx="8520600" cy="2030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280" name="Google Shape;280;p24"/>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